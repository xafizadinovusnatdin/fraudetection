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12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0" y="3200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60A5FA"/>
                </a:solidFill>
              </a:rPr>
              <a:t>SafeNet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A78BFA"/>
                </a:solidFill>
              </a:rPr>
              <a:t>Sun'iy Intellekt Asosida Anti-Fraud Tizimi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Shubhali va firibgarlik tranzaksiyalarini erta aniqlash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03320"/>
            <a:ext cx="2468880" cy="530352"/>
          </a:xfrm>
          <a:prstGeom prst="rect">
            <a:avLst/>
          </a:prstGeom>
          <a:solidFill>
            <a:srgbClr val="0E224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398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🤖 Deep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703320"/>
            <a:ext cx="2468880" cy="530352"/>
          </a:xfrm>
          <a:prstGeom prst="rect">
            <a:avLst/>
          </a:prstGeom>
          <a:solidFill>
            <a:srgbClr val="0E2244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7398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78BFA"/>
                </a:solidFill>
              </a:rPr>
              <a:t>🧠 DeepFraudNet MLP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703320"/>
            <a:ext cx="2468880" cy="530352"/>
          </a:xfrm>
          <a:prstGeom prst="rect">
            <a:avLst/>
          </a:prstGeom>
          <a:solidFill>
            <a:srgbClr val="0E224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7398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📊 Streamlit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3703320"/>
            <a:ext cx="2468880" cy="530352"/>
          </a:xfrm>
          <a:prstGeom prst="rect">
            <a:avLst/>
          </a:prstGeom>
          <a:solidFill>
            <a:srgbClr val="0E224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37398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</a:rPr>
              <a:t>🇺🇿 O'zbekiston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63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Taqdimot · 2026 yil · Xafizadinov Usnatdin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7171"/>
                </a:solidFill>
              </a:rPr>
              <a:t>Muammo — Firibgarlik (Fraud) Nima?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CA5A5"/>
                </a:solidFill>
              </a:rPr>
              <a:t>Moliyaviy firibgarlik global miqyosda o'sib bormoqda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3566160" cy="1371600"/>
          </a:xfrm>
          <a:prstGeom prst="rect">
            <a:avLst/>
          </a:prstGeom>
          <a:solidFill>
            <a:srgbClr val="280808"/>
          </a:solidFill>
          <a:ln w="1524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</a:rPr>
              <a:t>$485 mlrd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942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CA5A5"/>
                </a:solidFill>
              </a:rPr>
              <a:t>Yillik global fraud zarari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81328"/>
            <a:ext cx="3566160" cy="1371600"/>
          </a:xfrm>
          <a:prstGeom prst="rect">
            <a:avLst/>
          </a:prstGeom>
          <a:solidFill>
            <a:srgbClr val="280808"/>
          </a:solidFill>
          <a:ln w="1524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9105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</a:rPr>
              <a:t>3.5 soniya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4942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CA5A5"/>
                </a:solidFill>
              </a:rPr>
              <a:t>Har shunda 1 ta fraud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481328"/>
            <a:ext cx="3566160" cy="1371600"/>
          </a:xfrm>
          <a:prstGeom prst="rect">
            <a:avLst/>
          </a:prstGeom>
          <a:solidFill>
            <a:srgbClr val="280808"/>
          </a:solidFill>
          <a:ln w="1524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9105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</a:rPr>
              <a:t>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24942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CA5A5"/>
                </a:solidFill>
              </a:rPr>
              <a:t>Raqamli to'lovlarda fraud ulushi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Fraud turlari: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5486400" cy="1143000"/>
          </a:xfrm>
          <a:prstGeom prst="rect">
            <a:avLst/>
          </a:prstGeom>
          <a:solidFill>
            <a:srgbClr val="20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💳 Karta firibgarligi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507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Boshqaning kartasidan ruxsatsiz to'lov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520440"/>
            <a:ext cx="5486400" cy="1143000"/>
          </a:xfrm>
          <a:prstGeom prst="rect">
            <a:avLst/>
          </a:prstGeom>
          <a:solidFill>
            <a:srgbClr val="20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🤖 Bot hujumi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507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Avtomatlashtirilgan ko'plab kichik tranzaksiyalar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0600"/>
            <a:ext cx="5486400" cy="1143000"/>
          </a:xfrm>
          <a:prstGeom prst="rect">
            <a:avLst/>
          </a:prstGeom>
          <a:solidFill>
            <a:srgbClr val="20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🎭 Identifikatsiya o'g'irligi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309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Boshqa shaxs nomi bilan ro'yxatdan o'tish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00600"/>
            <a:ext cx="5486400" cy="1143000"/>
          </a:xfrm>
          <a:prstGeom prst="rect">
            <a:avLst/>
          </a:prstGeom>
          <a:solidFill>
            <a:srgbClr val="20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📍 Joylashuv firibgarligi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309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Chet el IP orqali mahalliy hisobdan to'lov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Dataset Ko'rinishi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15,000 tranzaksiya · 600 foydalanuvchi · sintetik + Kaggle ma'lumotlari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46304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0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user_id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481328"/>
            <a:ext cx="137160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92808" y="1508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amount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81328"/>
            <a:ext cx="137160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08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481328"/>
            <a:ext cx="155448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508760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81328"/>
            <a:ext cx="141732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508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trans_hour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481328"/>
            <a:ext cx="123444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150876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isFraud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93392"/>
            <a:ext cx="14630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0482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1993392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8" y="20482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993392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4408" y="20482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993392"/>
            <a:ext cx="155448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204825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toshkent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993392"/>
            <a:ext cx="141732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204825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1993392"/>
            <a:ext cx="12344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048256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487168"/>
            <a:ext cx="14630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2542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2487168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8" y="25420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850,000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2487168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5420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chrome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487168"/>
            <a:ext cx="155448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008" y="2542032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samarkand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487168"/>
            <a:ext cx="141732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0488" y="25420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2487168"/>
            <a:ext cx="12344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2542032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80944"/>
            <a:ext cx="14630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30358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user_075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2980944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8" y="30358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10,000,000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2980944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64408" y="30358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emulator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2980944"/>
            <a:ext cx="155448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36008" y="3035808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foreign_ip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2980944"/>
            <a:ext cx="141732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0488" y="303580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43800" y="2980944"/>
            <a:ext cx="12344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07808" y="303580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474720"/>
            <a:ext cx="14630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" y="35295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user_118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3474720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92808" y="35295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120,000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3474720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64408" y="35295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android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3474720"/>
            <a:ext cx="155448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36008" y="3529584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bukhara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474720"/>
            <a:ext cx="141732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0488" y="352958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43800" y="3474720"/>
            <a:ext cx="12344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7808" y="3529584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968496"/>
            <a:ext cx="14630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" y="40233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user_031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0" y="3968496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92808" y="40233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5,500,000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0" y="3968496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64408" y="40233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unknown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0" y="3968496"/>
            <a:ext cx="155448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36008" y="4023360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foreign_ip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3968496"/>
            <a:ext cx="141732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90488" y="402336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800" y="3968496"/>
            <a:ext cx="12344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07808" y="402336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462272"/>
            <a:ext cx="14630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9768" y="45171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user_200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0" y="4462272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92808" y="451713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75,000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0" y="4462272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64408" y="451713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safari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0" y="4462272"/>
            <a:ext cx="155448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36008" y="451713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fergana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4462272"/>
            <a:ext cx="141732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90488" y="451713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43800" y="4462272"/>
            <a:ext cx="12344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7808" y="4517136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4956048"/>
            <a:ext cx="14630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9768" y="50109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user_099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0" y="4956048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892808" y="50109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2,200,000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0" y="4956048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64408" y="50109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emulator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0" y="4956048"/>
            <a:ext cx="155448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36008" y="5010912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unknown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26480" y="4956048"/>
            <a:ext cx="141732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90488" y="501091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43800" y="4956048"/>
            <a:ext cx="12344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07808" y="5010912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5522976"/>
            <a:ext cx="5029200" cy="502920"/>
          </a:xfrm>
          <a:prstGeom prst="rect">
            <a:avLst/>
          </a:prstGeom>
          <a:solidFill>
            <a:srgbClr val="280808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577840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7171"/>
                </a:solidFill>
              </a:rPr>
              <a:t>🔴  isFraud=1 — Fraud tranzaksiyasi (bloklangan)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577840" y="5522976"/>
            <a:ext cx="5029200" cy="502920"/>
          </a:xfrm>
          <a:prstGeom prst="rect">
            <a:avLst/>
          </a:prstGeom>
          <a:solidFill>
            <a:srgbClr val="0C1A3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760720" y="5577840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🟢  isFraud=0 — Oddiy (normal) tranzaksiya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6144768"/>
            <a:ext cx="2468880" cy="530352"/>
          </a:xfrm>
          <a:prstGeom prst="rect">
            <a:avLst/>
          </a:prstGeom>
          <a:solidFill>
            <a:srgbClr val="0A1834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75488" y="6181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15,000 — Jami qator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08960" y="6144768"/>
            <a:ext cx="2468880" cy="530352"/>
          </a:xfrm>
          <a:prstGeom prst="rect">
            <a:avLst/>
          </a:prstGeom>
          <a:solidFill>
            <a:srgbClr val="0A1834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18688" y="6181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~10% — Fraud ulushi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852160" y="6144768"/>
            <a:ext cx="2468880" cy="530352"/>
          </a:xfrm>
          <a:prstGeom prst="rect">
            <a:avLst/>
          </a:prstGeom>
          <a:solidFill>
            <a:srgbClr val="0A1834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61888" y="6181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600 — Foydalanuvchi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95360" y="6144768"/>
            <a:ext cx="2468880" cy="530352"/>
          </a:xfrm>
          <a:prstGeom prst="rect">
            <a:avLst/>
          </a:prstGeom>
          <a:solidFill>
            <a:srgbClr val="0A1834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705088" y="6181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9 — Joylashuv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Ma'lumotlar Bilan Ishlash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Xom ma'lumotdan model uchun tayyor dataset yaratish jarayoni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3703320" cy="2176272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384048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5910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📥  Ma'lumot Yuklash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7568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CSV fayl o'qiladi (Kaggle yoki sintetik)
Majburiy ustunlar tekshiriladi: user_id, amount,
device, location, transaction_hour, isFraud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81328"/>
            <a:ext cx="3703320" cy="2176272"/>
          </a:xfrm>
          <a:prstGeom prst="rect">
            <a:avLst/>
          </a:prstGeom>
          <a:solidFill>
            <a:srgbClr val="0A2018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91056"/>
            <a:ext cx="384048" cy="384048"/>
          </a:xfrm>
          <a:prstGeom prst="rect">
            <a:avLst/>
          </a:prstGeom>
          <a:solidFill>
            <a:srgbClr val="00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5910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6E"/>
                </a:solidFill>
              </a:rPr>
              <a:t>🧹  Tozalash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7568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NaN qiymatlar to'ldiriladi
amount ≥ 0.01 — manfiy summalar tuzatiladi
transaction_hour: 0–23 oralig'iga clip
isFraud: 0 yoki 1 ga qaytariladi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481328"/>
            <a:ext cx="3703320" cy="2176272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591056"/>
            <a:ext cx="384048" cy="3840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15910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👤  Foydalanuvchi Profili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7568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Har user uchun:
• O'rtacha summa (user_avg_amount)
• Tranzaksiya soni
• Ko'rilgan qurilmalar ro'yxati
• Ko'rilgan joylashuvlar ro'yxati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813048"/>
            <a:ext cx="3703320" cy="2176272"/>
          </a:xfrm>
          <a:prstGeom prst="rect">
            <a:avLst/>
          </a:prstGeom>
          <a:solidFill>
            <a:srgbClr val="20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39227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🧠  Behavior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0740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Har tranzaksiya uchun real-time:
• amount_ratio_to_avg (0–50)
• is_new_device (0/1)
• is_new_location (0/1)
• is_night_transaction (0/1)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13048"/>
            <a:ext cx="3703320" cy="2176272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922776"/>
            <a:ext cx="384048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39227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🔢  Encoding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0740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Kategorik: device, location
→ OneHotEncoder(handle_unknown='ignore')
Raqamli: passthrough
(normalizatsiya kerak emas RF uchun)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3813048"/>
            <a:ext cx="3703320" cy="2176272"/>
          </a:xfrm>
          <a:prstGeom prst="rect">
            <a:avLst/>
          </a:prstGeom>
          <a:solidFill>
            <a:srgbClr val="0A2018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922776"/>
            <a:ext cx="384048" cy="38404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5672" y="39227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✂️  Train/Test Bo'lish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40740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test_size = 0.25
stratify=y — fraud ulushi saqlanadi
random_state = 42 — takrorlanadi
Train: 11,250 qator
Test:   3,750 qator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Feature Engineering — Belgilar Yaratish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18 ta asosiy + 7 ta interaction = 25 ta EXT_FEATURES modeli uchun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2606040" cy="2011680"/>
          </a:xfrm>
          <a:prstGeom prst="rect">
            <a:avLst/>
          </a:prstGeom>
          <a:solidFill>
            <a:srgbClr val="0A18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5727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Raqamli (7 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011680"/>
            <a:ext cx="239572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amount, transaction_hour, Tx Frequency,
Time Since Last Tx, Account Age,
Normalized Amount, Fraud Complaints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481328"/>
            <a:ext cx="2606040" cy="2011680"/>
          </a:xfrm>
          <a:prstGeom prst="rect">
            <a:avLst/>
          </a:prstGeom>
          <a:solidFill>
            <a:srgbClr val="0A183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5727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Ikkilik (9 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011680"/>
            <a:ext cx="239572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Geo-Location Flags, Location-Inconsistent,
Recipient Verification, Recipient Blacklist,
VPN/Proxy, Merchant Mismatch,
Daily Limit Exceeded, High-Value Flags,
Past Fraud Behavior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481328"/>
            <a:ext cx="2606040" cy="2011680"/>
          </a:xfrm>
          <a:prstGeom prst="rect">
            <a:avLst/>
          </a:prstGeom>
          <a:solidFill>
            <a:srgbClr val="0A1830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8" y="15727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6E"/>
                </a:solidFill>
              </a:rPr>
              <a:t>Kategorik (2 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8" y="2011680"/>
            <a:ext cx="239572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device  →  OneHot Encoding
location  →  OneHot Encoding
Binning: NUMERICAL uchun 9 kvantil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0A5FA"/>
                </a:solidFill>
              </a:rPr>
              <a:t>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481328"/>
            <a:ext cx="2606040" cy="2011680"/>
          </a:xfrm>
          <a:prstGeom prst="rect">
            <a:avLst/>
          </a:prstGeom>
          <a:solidFill>
            <a:srgbClr val="120A2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15727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⚡ Interaction (7 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011680"/>
            <a:ext cx="239572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risky_device
risky_location
night_flag
dev×night  dev×loc
loc×night
vpn×blacklist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9312"/>
            <a:ext cx="11338560" cy="502920"/>
          </a:xfrm>
          <a:prstGeom prst="rect">
            <a:avLst/>
          </a:prstGeom>
          <a:solidFill>
            <a:srgbClr val="081428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6941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</a:rPr>
              <a:t>EXT_FEATURES  =  18 asosiy belgi  +  7 interaction  =  25 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79392"/>
            <a:ext cx="2724912" cy="2395728"/>
          </a:xfrm>
          <a:prstGeom prst="rect">
            <a:avLst/>
          </a:prstGeom>
          <a:solidFill>
            <a:srgbClr val="0C1830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437083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risky_device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7731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device ∈ {emulator,unknown,linux} →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53218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Xavfli qurilma bayrog'i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4408" y="4279392"/>
            <a:ext cx="2724912" cy="2395728"/>
          </a:xfrm>
          <a:prstGeom prst="rect">
            <a:avLst/>
          </a:prstGeom>
          <a:solidFill>
            <a:srgbClr val="0C1830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74136" y="437083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dev_x_night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4136" y="47731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risky_device × night_flag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4136" y="53218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Xavfli qurilma + tun birgaligi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4279392"/>
            <a:ext cx="2724912" cy="2395728"/>
          </a:xfrm>
          <a:prstGeom prst="rect">
            <a:avLst/>
          </a:prstGeom>
          <a:solidFill>
            <a:srgbClr val="0C1830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437083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vpn_x_blacklist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47731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VPN × Recipient Blacklist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53218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VPN + qora ro'yxat birgaligi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0264" y="4279392"/>
            <a:ext cx="2724912" cy="2395728"/>
          </a:xfrm>
          <a:prstGeom prst="rect">
            <a:avLst/>
          </a:prstGeom>
          <a:solidFill>
            <a:srgbClr val="0C183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437083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night_flag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47731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transaction_hour ∈ [0..5] →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53218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Tun soati (00:00–05:59)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Fraud Qanday Aniqlanadi?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Har bir tranzaksiya uchun bosqichma-bosqich qaror qabul qilish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72768"/>
            <a:ext cx="1737360" cy="1371600"/>
          </a:xfrm>
          <a:prstGeom prst="rect">
            <a:avLst/>
          </a:prstGeom>
          <a:solidFill>
            <a:srgbClr val="0A204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Tranzaksiya
keladi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1572768"/>
            <a:ext cx="1737360" cy="137160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25 ta
EXT_FEATURES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1572768"/>
            <a:ext cx="1737360" cy="1371600"/>
          </a:xfrm>
          <a:prstGeom prst="rect">
            <a:avLst/>
          </a:prstGeom>
          <a:solidFill>
            <a:srgbClr val="2218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256→128→64
MLP qatlamlari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572768"/>
            <a:ext cx="1737360" cy="1371600"/>
          </a:xfrm>
          <a:prstGeom prst="rect">
            <a:avLst/>
          </a:prstGeom>
          <a:solidFill>
            <a:srgbClr val="082210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6E"/>
                </a:solidFill>
              </a:rPr>
              <a:t>Sigmoid
chiqish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1572768"/>
            <a:ext cx="1737360" cy="1371600"/>
          </a:xfrm>
          <a:prstGeom prst="rect">
            <a:avLst/>
          </a:prstGeom>
          <a:solidFill>
            <a:srgbClr val="0822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</a:rPr>
              <a:t>P(fraud)
0.0–1.0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572768"/>
            <a:ext cx="1737360" cy="1371600"/>
          </a:xfrm>
          <a:prstGeom prst="rect">
            <a:avLst/>
          </a:prstGeom>
          <a:solidFill>
            <a:srgbClr val="0A204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Threshold
tekshiruv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154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Qaror yo'llari: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2"/>
            <a:ext cx="3703320" cy="3017520"/>
          </a:xfrm>
          <a:prstGeom prst="rect">
            <a:avLst/>
          </a:prstGeom>
          <a:solidFill>
            <a:srgbClr val="082210"/>
          </a:solidFill>
          <a:ln w="15240">
            <a:solidFill>
              <a:srgbClr val="0F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39312"/>
            <a:ext cx="3703320" cy="475488"/>
          </a:xfrm>
          <a:prstGeom prst="rect">
            <a:avLst/>
          </a:prstGeom>
          <a:solidFill>
            <a:srgbClr val="0F381A"/>
          </a:solidFill>
          <a:ln w="15240">
            <a:solidFill>
              <a:srgbClr val="0F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675887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🟢  ALLOW — Xavfsiz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4169663"/>
            <a:ext cx="1371600" cy="347472"/>
          </a:xfrm>
          <a:prstGeom prst="rect">
            <a:avLst/>
          </a:prstGeom>
          <a:solidFill>
            <a:srgbClr val="08102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197096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P &lt; 0.50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59028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✅ Tranzaksiya o'tkaziladi
• Oddiy qurilma va joylashuv
• Summa odatiy miqdorda
• Kunduz soatida amalga oshirilgan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3639312"/>
            <a:ext cx="3703320" cy="3017520"/>
          </a:xfrm>
          <a:prstGeom prst="rect">
            <a:avLst/>
          </a:prstGeom>
          <a:solidFill>
            <a:srgbClr val="221804"/>
          </a:solidFill>
          <a:ln w="15240">
            <a:solidFill>
              <a:srgbClr val="3A2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9392" y="3639312"/>
            <a:ext cx="3703320" cy="475488"/>
          </a:xfrm>
          <a:prstGeom prst="rect">
            <a:avLst/>
          </a:prstGeom>
          <a:solidFill>
            <a:srgbClr val="3A2806"/>
          </a:solidFill>
          <a:ln w="15240">
            <a:solidFill>
              <a:srgbClr val="3A2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675887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🟡  REVIEW — Tekshirish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169663"/>
            <a:ext cx="1371600" cy="347472"/>
          </a:xfrm>
          <a:prstGeom prst="rect">
            <a:avLst/>
          </a:prstGeom>
          <a:solidFill>
            <a:srgbClr val="081020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4197096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0.50 ≤ P &lt; 0.80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59028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⚠️ Operator tekshirishi kutiladi
• Tun saatida amalga oshirilgan
• Summa o'rtachadan yuqori
• Yangi joylashuv yoki qurilma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93024" y="3639312"/>
            <a:ext cx="3703320" cy="3017520"/>
          </a:xfrm>
          <a:prstGeom prst="rect">
            <a:avLst/>
          </a:prstGeom>
          <a:solidFill>
            <a:srgbClr val="280808"/>
          </a:solidFill>
          <a:ln w="15240">
            <a:solidFill>
              <a:srgbClr val="48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93024" y="3639312"/>
            <a:ext cx="3703320" cy="475488"/>
          </a:xfrm>
          <a:prstGeom prst="rect">
            <a:avLst/>
          </a:prstGeom>
          <a:solidFill>
            <a:srgbClr val="481010"/>
          </a:solidFill>
          <a:ln w="15240">
            <a:solidFill>
              <a:srgbClr val="48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2" y="3675887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🔴  BLOCK — Bloklash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2752" y="4169663"/>
            <a:ext cx="1371600" cy="347472"/>
          </a:xfrm>
          <a:prstGeom prst="rect">
            <a:avLst/>
          </a:prstGeom>
          <a:solidFill>
            <a:srgbClr val="081020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4197096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P ≥ 0.80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459028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🚫 Tranzaksiya darhol bloklanadi
• Emulator / noma'lum qurilma
• Chet el / noma'lum IP
• Summa 5x+ baland, tun vaqti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Risk Ball Tizimi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Har bir xavf omili qo'shimcha ball beradi — jami ball → ehtimollik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627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💰  Summa o'rtachadan ≥ 1.8x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934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BBF24"/>
                </a:solidFill>
              </a:rPr>
              <a:t>+0.8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06654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BBF24"/>
                </a:solidFill>
              </a:rPr>
              <a:t>ball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3619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627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💰  Summa o'rtachadan ≥ 3.0x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60934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BBF24"/>
                </a:solidFill>
              </a:rPr>
              <a:t>+1.1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06654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BBF24"/>
                </a:solidFill>
              </a:rPr>
              <a:t>ball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153619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627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💰  Summa o'rtachadan ≥ 5.0x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160934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87171"/>
                </a:solidFill>
              </a:rPr>
              <a:t>+1.0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206654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87171"/>
                </a:solidFill>
              </a:rPr>
              <a:t>ball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2491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816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📱  Yangi qurilma (is_new_device)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79806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78BFA"/>
                </a:solidFill>
              </a:rPr>
              <a:t>+1.4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25526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78BFA"/>
                </a:solidFill>
              </a:rPr>
              <a:t>ball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72491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2816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📍  Yangi joylashuv (is_new_location)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79806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78BFA"/>
                </a:solidFill>
              </a:rPr>
              <a:t>+1.6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25526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78BFA"/>
                </a:solidFill>
              </a:rPr>
              <a:t>ball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72491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2816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🌙  Tun saati 0–5 (is_night)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279806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60A5FA"/>
                </a:solidFill>
              </a:rPr>
              <a:t>+0.8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325526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A5FA"/>
                </a:solidFill>
              </a:rPr>
              <a:t>ball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91363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⚠️  Xavfli qurilma yoki chet el 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98678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87171"/>
                </a:solidFill>
              </a:rPr>
              <a:t>+1.3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44398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87171"/>
                </a:solidFill>
              </a:rPr>
              <a:t>ball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91363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 Yangi qurilma + yangi joylashuv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98678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87171"/>
                </a:solidFill>
              </a:rPr>
              <a:t>+0.9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44398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87171"/>
                </a:solidFill>
              </a:rPr>
              <a:t>ball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391363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8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💵  Summa ≥ 500$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398678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BBF24"/>
                </a:solidFill>
              </a:rPr>
              <a:t>+0.7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444398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BBF24"/>
                </a:solidFill>
              </a:rPr>
              <a:t>ball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897880"/>
            <a:ext cx="11338560" cy="749808"/>
          </a:xfrm>
          <a:prstGeom prst="rect">
            <a:avLst/>
          </a:prstGeom>
          <a:solidFill>
            <a:srgbClr val="08142A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961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📐  Formula: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9618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P(fraud) = sigmoid( −5.2 + 1.15 × Σ ball )     |     Σ ball ≥ 5.5 → P = 0.92     |     Σ ball ≥ 4.2 → P = 0.68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</a:rPr>
              <a:t>Algoritm — DeepFraudNet Arxitekturasi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3 ta yashirin qatlamli MLP · Adam optimizer · Pure NumPy implementatsiya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36192"/>
            <a:ext cx="2029968" cy="1691640"/>
          </a:xfrm>
          <a:prstGeom prst="rect">
            <a:avLst/>
          </a:prstGeom>
          <a:solidFill>
            <a:srgbClr val="08163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1920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A5FA"/>
                </a:solidFill>
              </a:rPr>
              <a:t>INPUT
~130
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1488" y="1536192"/>
            <a:ext cx="2029968" cy="169164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627632"/>
            <a:ext cx="1920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Dense
256
ReLU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65776" y="1536192"/>
            <a:ext cx="2029968" cy="169164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627632"/>
            <a:ext cx="1920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Dense
128
ReLU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5744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0064" y="1536192"/>
            <a:ext cx="2029968" cy="169164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8" y="1627632"/>
            <a:ext cx="1920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Dense
64
ReLU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2" y="1536192"/>
            <a:ext cx="2029968" cy="1691640"/>
          </a:xfrm>
          <a:prstGeom prst="rect">
            <a:avLst/>
          </a:prstGeom>
          <a:solidFill>
            <a:srgbClr val="0822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9216" y="1627632"/>
            <a:ext cx="1920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</a:rPr>
              <a:t>OUTPUT
1
Sigmoid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3101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</a:rPr>
              <a:t>P(fraud)  ∈  [0 … 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401568"/>
            <a:ext cx="5486400" cy="3246120"/>
          </a:xfrm>
          <a:prstGeom prst="rect">
            <a:avLst/>
          </a:prstGeom>
          <a:solidFill>
            <a:srgbClr val="100E28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5112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⚙️  O'qitish Tafsilotlari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4164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Optimizer: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0416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Adam  (β₁=0.9, β₂=0.999, lr=0.001)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8912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38912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Class-weighted Binary Cross-Entropy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3659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Batch size: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73659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512  (mini-batch)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08406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Epochlar: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0840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4315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Init: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4315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He initialization: W ~ N(0, √(2/fan_in))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77900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Regularizatsiya: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7790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L2 weight decay  λ=1e-5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1264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Sinf og'irligi: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612648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ratio = min(√(n_neg / n_pos), 5.0)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Namuna: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647395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20,000 (stratified sampling)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3401568"/>
            <a:ext cx="5715000" cy="3246120"/>
          </a:xfrm>
          <a:prstGeom prst="rect">
            <a:avLst/>
          </a:prstGeom>
          <a:solidFill>
            <a:srgbClr val="100E28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5112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✅  Nima uchun DeepFraudNet?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041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Nochiziqli munosabatlarni o'rganadi (ReLU)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4165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Interaction features birgalikda ishlaydi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7914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Adam — tez va barqaror konvergentsiya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1663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sqrt class weighting — precision/recall muvozanat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5412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He init — gradient yo'qolishining oldini oladi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916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Sklearn yo'q — Streamlit Cloud bilan mos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62910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Quantile binning nochiziqlilikni kuchaytiradi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Model Sifati — Pipeline Arxitekturasi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Preprocessing → Feature Engineering → DeepFraudNet → P(fraud)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36192"/>
            <a:ext cx="1755648" cy="1920240"/>
          </a:xfrm>
          <a:prstGeom prst="rect">
            <a:avLst/>
          </a:prstGeom>
          <a:solidFill>
            <a:srgbClr val="0A1E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📥
Input
DataFrame
(18 belgi)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4288" y="1536192"/>
            <a:ext cx="1755648" cy="192024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⚡
add_
interactions
(+7 belgi)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9936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536192"/>
            <a:ext cx="1755648" cy="1920240"/>
          </a:xfrm>
          <a:prstGeom prst="rect">
            <a:avLst/>
          </a:prstGeom>
          <a:solidFill>
            <a:srgbClr val="082010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6E"/>
                </a:solidFill>
              </a:rPr>
              <a:t>🔀
Z-score
norm +
OHE + 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536192"/>
            <a:ext cx="1755648" cy="192024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🧠
Deep
FraudNet
256→128→64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536192"/>
            <a:ext cx="1755648" cy="1920240"/>
          </a:xfrm>
          <a:prstGeom prst="rect">
            <a:avLst/>
          </a:prstGeom>
          <a:solidFill>
            <a:srgbClr val="0822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</a:rPr>
              <a:t>🎯
Sigmoid
P(fraud)
0.0–1.0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536192"/>
            <a:ext cx="1755648" cy="1920240"/>
          </a:xfrm>
          <a:prstGeom prst="rect">
            <a:avLst/>
          </a:prstGeom>
          <a:solidFill>
            <a:srgbClr val="0A1E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⚖️
Threshold
ALLOW /
REVIEW /
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393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Model Sifatini Ta'minlovchi Omillar: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5577840" cy="1051560"/>
          </a:xfrm>
          <a:prstGeom prst="rect">
            <a:avLst/>
          </a:prstGeom>
          <a:solidFill>
            <a:srgbClr val="2016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51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⚖️  Sinf Og'irligi (sqrt weighting)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90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ratio = min(√(n_neg/n_pos), 5.0) ≈ 4.36x — fraud sinfiga yuqori og'irlik, lekin 10x dan kichik (precision muvozanatlanadi)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160520"/>
            <a:ext cx="5577840" cy="1051560"/>
          </a:xfrm>
          <a:prstGeom prst="rect">
            <a:avLst/>
          </a:prstGeom>
          <a:solidFill>
            <a:srgbClr val="08200C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251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🎯  Stratified Split + Sampling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690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stratified_split(80/20) → har ikkala to'plamda 5% fraud saqlanadi. stratified_sample(20K) — o'qitish namumasida ham bir xil ulush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5577840" cy="1051560"/>
          </a:xfrm>
          <a:prstGeom prst="rect">
            <a:avLst/>
          </a:prstGeom>
          <a:solidFill>
            <a:srgbClr val="08183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94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🔄  Optimal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33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0.05 dan 0.95 gacha 91 ta chegara sinab ko'riladi. F1-Score maksimali aniqlanib, ALLOW/REVIEW/BLOCK uchun ishlatiladi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303520"/>
            <a:ext cx="5577840" cy="1051560"/>
          </a:xfrm>
          <a:prstGeom prst="rect">
            <a:avLst/>
          </a:prstGeom>
          <a:solidFill>
            <a:srgbClr val="16102C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394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💾  Artifact Saqlash (pickle)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833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+ transform schema + threshold + metrics + feature importances bitta dict ichida pickle.dump() bilan saqlanadi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Model Aniqligi — Ko'rsatkichlar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40,000 o'qitish · 10,000 test · DeepFraudNet (256→128→64 + 25 EXT_FEATURES)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</a:rPr>
              <a:t>~95%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Barcha bashoratlarning to'g'riligi (sinf nomutanosibligi bor)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</a:rPr>
              <a:t>52.4%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BLOCK diyilganlarning 52.4% haqiqiy fraud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</a:rPr>
              <a:t>40.0%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Barcha fraudning 40.0% aniqlandi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</a:rPr>
              <a:t>45.4%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Precision + Recall muvozanati (0.45 = yaxshi)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</a:rPr>
              <a:t>0.857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Ajratish qobiliyati — sanoat standarti 0.85–0.92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4015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Confusion Matrix (Test set: ~10,000 qator, 5% fraud)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5020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285999" y="3858768"/>
            <a:ext cx="1828800" cy="822960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19" y="395020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Pred: Normal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18" y="3858768"/>
            <a:ext cx="1828800" cy="822960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38" y="395020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Pred: Fraud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27448"/>
            <a:ext cx="1828800" cy="822960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188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Real: Normal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5999" y="4727448"/>
            <a:ext cx="1828800" cy="822960"/>
          </a:xfrm>
          <a:prstGeom prst="rect">
            <a:avLst/>
          </a:prstGeom>
          <a:solidFill>
            <a:srgbClr val="0828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19" y="48188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TN = 9,143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18" y="4727448"/>
            <a:ext cx="1828800" cy="822960"/>
          </a:xfrm>
          <a:prstGeom prst="rect">
            <a:avLst/>
          </a:prstGeom>
          <a:solidFill>
            <a:srgbClr val="280808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38" y="48188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7171"/>
                </a:solidFill>
              </a:rPr>
              <a:t>FP = 357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596128"/>
            <a:ext cx="1828800" cy="822960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6875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Real: Fraud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5999" y="5596128"/>
            <a:ext cx="1828800" cy="822960"/>
          </a:xfrm>
          <a:prstGeom prst="rect">
            <a:avLst/>
          </a:prstGeom>
          <a:solidFill>
            <a:srgbClr val="2016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19" y="56875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FN = 300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18" y="5596128"/>
            <a:ext cx="1828800" cy="822960"/>
          </a:xfrm>
          <a:prstGeom prst="rect">
            <a:avLst/>
          </a:prstGeom>
          <a:solidFill>
            <a:srgbClr val="0828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8" y="56875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TP = 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34015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Model Solishtirma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858768"/>
            <a:ext cx="2331720" cy="384048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895344"/>
            <a:ext cx="2258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3858768"/>
            <a:ext cx="1097280" cy="384048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3895344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Accuracy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3858768"/>
            <a:ext cx="914400" cy="384048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3895344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F1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52760" y="3858768"/>
            <a:ext cx="1005840" cy="384048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98480" y="389534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ROC-AUC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4279392"/>
            <a:ext cx="2331720" cy="512064"/>
          </a:xfrm>
          <a:prstGeom prst="rect">
            <a:avLst/>
          </a:prstGeom>
          <a:solidFill>
            <a:srgbClr val="0A200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334256"/>
            <a:ext cx="2258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🧠 DeepFraudNet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40" y="4279392"/>
            <a:ext cx="1097280" cy="512064"/>
          </a:xfrm>
          <a:prstGeom prst="rect">
            <a:avLst/>
          </a:prstGeom>
          <a:solidFill>
            <a:srgbClr val="0A200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334256"/>
            <a:ext cx="1024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4279392"/>
            <a:ext cx="914400" cy="512064"/>
          </a:xfrm>
          <a:prstGeom prst="rect">
            <a:avLst/>
          </a:prstGeom>
          <a:solidFill>
            <a:srgbClr val="0A200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38360" y="4334256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45.4%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52760" y="4279392"/>
            <a:ext cx="1005840" cy="512064"/>
          </a:xfrm>
          <a:prstGeom prst="rect">
            <a:avLst/>
          </a:prstGeom>
          <a:solidFill>
            <a:srgbClr val="0A200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98480" y="4334256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0.857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4846320"/>
            <a:ext cx="233172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4901184"/>
            <a:ext cx="2258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📈 Logistic Reg.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49640" y="4846320"/>
            <a:ext cx="109728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4901184"/>
            <a:ext cx="1024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92640" y="4846320"/>
            <a:ext cx="91440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38360" y="4901184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28.1%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652760" y="4846320"/>
            <a:ext cx="100584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98480" y="4901184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0.791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5413248"/>
            <a:ext cx="233172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5468112"/>
            <a:ext cx="2258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🌲 Random Forest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49640" y="5413248"/>
            <a:ext cx="109728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95360" y="5468112"/>
            <a:ext cx="1024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92640" y="5413248"/>
            <a:ext cx="91440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38360" y="5468112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38.2%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52760" y="5413248"/>
            <a:ext cx="100584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98480" y="5468112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0.832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2200" y="5980176"/>
            <a:ext cx="233172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6035040"/>
            <a:ext cx="2258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⚡ Qoidalar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49640" y="5980176"/>
            <a:ext cx="109728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95360" y="6035040"/>
            <a:ext cx="1024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92640" y="5980176"/>
            <a:ext cx="91440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38360" y="6035040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22.5%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52760" y="5980176"/>
            <a:ext cx="100584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98480" y="6035040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0.650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Natijalarni Talqin Qilish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To'g'ri va noto'g'ri bashoratlarning amaliy ahamiyati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5577840" cy="1261872"/>
          </a:xfrm>
          <a:prstGeom prst="rect">
            <a:avLst/>
          </a:prstGeom>
          <a:solidFill>
            <a:srgbClr val="082210"/>
          </a:solidFill>
          <a:ln w="15240">
            <a:solidFill>
              <a:srgbClr val="0F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✅  True Positive (TP) = 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fraud dedi → haqiqatan fraud
→ Tranzaksiya to'g'ri blokland!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36192"/>
            <a:ext cx="5577840" cy="1261872"/>
          </a:xfrm>
          <a:prstGeom prst="rect">
            <a:avLst/>
          </a:prstGeom>
          <a:solidFill>
            <a:srgbClr val="082210"/>
          </a:solidFill>
          <a:ln w="15240">
            <a:solidFill>
              <a:srgbClr val="0F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276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✅  True Negative (TN) = 9,143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305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normal dedi → haqiqatan normal
→ Foydalanuvchi muammosiz o'tdi!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53512"/>
            <a:ext cx="5577840" cy="1261872"/>
          </a:xfrm>
          <a:prstGeom prst="rect">
            <a:avLst/>
          </a:prstGeom>
          <a:solidFill>
            <a:srgbClr val="221804"/>
          </a:solidFill>
          <a:ln w="15240">
            <a:solidFill>
              <a:srgbClr val="3A2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449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⚠️  False Positive (FP) = 357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478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fraud dedi → aslida normal
→ Mushtariy noqulaylik sezdi (3.8%)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953512"/>
            <a:ext cx="5577840" cy="1261872"/>
          </a:xfrm>
          <a:prstGeom prst="rect">
            <a:avLst/>
          </a:prstGeom>
          <a:solidFill>
            <a:srgbClr val="280808"/>
          </a:solidFill>
          <a:ln w="15240">
            <a:solidFill>
              <a:srgbClr val="44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449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❌  False Negative (FN) = 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478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normal dedi → aslida fraud
→ Fraud o'tib ketdi! (eng xavfli holat)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72000"/>
            <a:ext cx="11338560" cy="2084831"/>
          </a:xfrm>
          <a:prstGeom prst="rect">
            <a:avLst/>
          </a:prstGeom>
          <a:solidFill>
            <a:srgbClr val="08162C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663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💼  Biznes Ta'siri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200 fraud bloklandi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Bank = pul yutdi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138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300 fraud o'tdi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55046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Dataset shovqini tufayli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138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357 yolg'on alarm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5046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 noqulayligi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5138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0.857 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55046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Sanoat standarti doirasida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016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BF24"/>
                </a:solidFill>
              </a:rPr>
              <a:t>Maqsad: FN (fraud o'tib ketish) ni minimallashtirishdir — Recall muhim!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Ishlaydigan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Streamlit interaktiv paneli — real vaqtda tranzaksiyani baholash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3703320" cy="5166360"/>
          </a:xfrm>
          <a:prstGeom prst="rect">
            <a:avLst/>
          </a:prstGeom>
          <a:solidFill>
            <a:srgbClr val="08220E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703320" cy="502920"/>
          </a:xfrm>
          <a:prstGeom prst="rect">
            <a:avLst/>
          </a:prstGeom>
          <a:solidFill>
            <a:srgbClr val="00B86E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544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✅ ALLOW — Xavfsiz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848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user_042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420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Summa: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5420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50,000 so'm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Qurilma: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992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Joylashuv: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4564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Toshkent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136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Vaqt: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136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14:30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4407408"/>
            <a:ext cx="3474720" cy="438912"/>
          </a:xfrm>
          <a:prstGeom prst="rect">
            <a:avLst/>
          </a:prstGeom>
          <a:solidFill>
            <a:srgbClr val="08101C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439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Fraud ehtimoli: 3.2%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Odatiy qurilma
✓ Odatiy joylashuv
✓ Kunduz saati
✓ Normal summa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508760"/>
            <a:ext cx="3703320" cy="5166360"/>
          </a:xfrm>
          <a:prstGeom prst="rect">
            <a:avLst/>
          </a:prstGeom>
          <a:solidFill>
            <a:srgbClr val="221604"/>
          </a:solidFill>
          <a:ln w="15240">
            <a:solidFill>
              <a:srgbClr val="D97A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508760"/>
            <a:ext cx="3703320" cy="502920"/>
          </a:xfrm>
          <a:prstGeom prst="rect">
            <a:avLst/>
          </a:prstGeom>
          <a:solidFill>
            <a:srgbClr val="D97A06"/>
          </a:solidFill>
          <a:ln w="15240">
            <a:solidFill>
              <a:srgbClr val="D97A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5544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⚠️ REVIEW — O'rta xavf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0848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0848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user_075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5420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Summa: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5420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850,000 so'm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992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Qurilma: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9992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Chrome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4564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Joylashuv: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4564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Samarqand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9136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Vaqt: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9136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23:15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4407408"/>
            <a:ext cx="3474720" cy="438912"/>
          </a:xfrm>
          <a:prstGeom prst="rect">
            <a:avLst/>
          </a:prstGeom>
          <a:solidFill>
            <a:srgbClr val="08101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4439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Fraud ehtimoli: 62.7%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937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⚠ Tun saati (23:15)
⚠ Summa o'rtachadan baland
⚠ Yangi joylashuv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1508760"/>
            <a:ext cx="3703320" cy="5166360"/>
          </a:xfrm>
          <a:prstGeom prst="rect">
            <a:avLst/>
          </a:prstGeom>
          <a:solidFill>
            <a:srgbClr val="280808"/>
          </a:solidFill>
          <a:ln w="1524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80" y="1508760"/>
            <a:ext cx="3703320" cy="502920"/>
          </a:xfrm>
          <a:prstGeom prst="rect">
            <a:avLst/>
          </a:prstGeom>
          <a:solidFill>
            <a:srgbClr val="E63946"/>
          </a:solidFill>
          <a:ln w="1524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15544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🚫 BLOCK — Yuqori xavf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0848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20848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user_031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5420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Summa: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5420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10,000,000 so'm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9992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Qurilma: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29992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Emulator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4564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Joylashuv: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4564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foreign_ip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9136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Vaqt: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9136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02:45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93608" y="4407408"/>
            <a:ext cx="3474720" cy="438912"/>
          </a:xfrm>
          <a:prstGeom prst="rect">
            <a:avLst/>
          </a:prstGeom>
          <a:solidFill>
            <a:srgbClr val="08101C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44439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Fraud ehtimoli: 96.3%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937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✗ Emulator qurilma
✗ Noma'lum IP
✗ Tun saati (02:45)
✗ Summa 47x baland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solidFill>
            <a:srgbClr val="08162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64556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🌐  github.com/XafizadinovUsnatdin/Fraudetection   |   Streamlit Cloud'da ochiq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REST API — Integratsiya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FastAPI orqali har qanday bank tizimiga ulanish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5577840" cy="5120640"/>
          </a:xfrm>
          <a:prstGeom prst="rect">
            <a:avLst/>
          </a:prstGeom>
          <a:solidFill>
            <a:srgbClr val="0A162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📤  POST /predict — So'rov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39696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{
  "user_id":          "user_075",
  "amount":             850000,
  "device":             "chrome",
  "location":           "samarkand",
  "transaction_hour":   23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POST /predict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Tranzaksiyani baholash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371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GET  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837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Tizim holati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39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GET  /stats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2395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Fraud statistikasi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41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GET  /model/info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6418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versiya va metrikalar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5577840" cy="5120640"/>
          </a:xfrm>
          <a:prstGeom prst="rect">
            <a:avLst/>
          </a:prstGeom>
          <a:solidFill>
            <a:srgbClr val="0A162C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2763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📥  Javob (JSON Response)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39696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{
  "fraud_probability": 0.627,
  "risk_level":        "MEDIUM",
  "decision":          "REVIEW",
  "reasons": [
    "Night transaction",
    "Amount higher than avg",
    "New location for user"
  ]
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9560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Javob vaqti:  &lt; 100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21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Format: JSON   |   Auth: API Key   |   Protocol: HTTPS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Kelajak Rejalar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Tizimni yanada kuchaytirish va kengaytirish yo'nalishlari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5577840" cy="1371600"/>
          </a:xfrm>
          <a:prstGeom prst="rect">
            <a:avLst/>
          </a:prstGeom>
          <a:solidFill>
            <a:srgbClr val="0A1E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🔄  Online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5798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Yangi tranzaksiyalar bilan model avtomatik yangilanadi. Concept drift aniqlash.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36192"/>
            <a:ext cx="5577840" cy="137160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27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🤖  Deep Learning (LSTM)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5798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Ketma-ket tranzaksiyalar tahlili — vaqtiy qonuniyatlarni aniqlash.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44952"/>
            <a:ext cx="5577840" cy="1371600"/>
          </a:xfrm>
          <a:prstGeom prst="rect">
            <a:avLst/>
          </a:prstGeom>
          <a:solidFill>
            <a:srgbClr val="082010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363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6E"/>
                </a:solidFill>
              </a:rPr>
              <a:t>🌐  Federated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6674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Banklar ma'lumotlarini ulashmay birgalikda model o'rgatadi.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044952"/>
            <a:ext cx="5577840" cy="1371600"/>
          </a:xfrm>
          <a:prstGeom prst="rect">
            <a:avLst/>
          </a:prstGeom>
          <a:solidFill>
            <a:srgbClr val="2216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1363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📊  Graph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6674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Foydalanuvchilar to'r tahlili — guruhiy firibgarlikni aniqlash.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53712"/>
            <a:ext cx="5577840" cy="1371600"/>
          </a:xfrm>
          <a:prstGeom prst="rect">
            <a:avLst/>
          </a:prstGeom>
          <a:solidFill>
            <a:srgbClr val="280808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45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🔔  Real-Time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7550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SMS / Telegram orqali darhol xabarnoma. Bank operatoriga bildiruv.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53712"/>
            <a:ext cx="5577840" cy="1371600"/>
          </a:xfrm>
          <a:prstGeom prst="rect">
            <a:avLst/>
          </a:prstGeom>
          <a:solidFill>
            <a:srgbClr val="0A1E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645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🏦  Banking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17550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SWIFT, Open Banking API va O'zbekiston to'lov tizimlari bilan ulash.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144768"/>
            <a:ext cx="11338560" cy="530352"/>
          </a:xfrm>
          <a:prstGeom prst="rect">
            <a:avLst/>
          </a:prstGeom>
          <a:solidFill>
            <a:srgbClr val="08162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19963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</a:rPr>
              <a:t>🎯  Maqsad: SafeNet → O'zbekiston bank sektori uchun standart anti-fraud yechim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12188952" cy="2926080"/>
          </a:xfrm>
          <a:prstGeom prst="rect">
            <a:avLst/>
          </a:prstGeom>
          <a:solidFill>
            <a:srgbClr val="10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0" y="109728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18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60A5FA"/>
                </a:solidFill>
              </a:rPr>
              <a:t>SafeNet — 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574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DeepFraudNet (256→128→64 MLP) asosida qurilgan real-vaqt anti-fraud tizimi
firibgarlikni ROC-AUC 0.857 aniqlikda aniqlaydi va har qarorni tushuntiradi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0.857
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0A5FA"/>
                </a:solidFill>
              </a:rPr>
              <a:t>&lt;100ms
Tezlik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Tushun-
tiriladi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50,000
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25 ta
Belgi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90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902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sifati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59028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DeepFraudNet MLP · sqrt class weighting · stratified split · He init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Ma'lumotlar bilan ishlash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983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50K dataset · Z-score norm · OHE · binning · 7 interaction 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76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766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aniqligi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37667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ROC-AUC 0.857 · Precision 52.4% · Recall 40.0% · F1 45.4%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69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69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Ishlaydigan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5769864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Streamlit interaktiv panel · 4 ta stsenariy · GitHub'da ochiq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1630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1630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Algoritmni tushuntirish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6163056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Forward/backward pass · Adam optim · Risk signal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6419088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</a:rPr>
              <a:t>github.com/XafizadinovUsnatdin/Fraudetection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