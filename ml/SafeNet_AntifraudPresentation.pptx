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32004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60A5FA"/>
                </a:solidFill>
              </a:rPr>
              <a:t>SafeNet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A78BFA"/>
                </a:solidFill>
              </a:rPr>
              <a:t>Sun'iy Intellekt Asosida Anti-Fraud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71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Shubhali va firibgarlik tranzaksiyalarini erta aniqlash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0A5FA"/>
                </a:solidFill>
              </a:rPr>
              <a:t>🤖 Machine Learning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8BFA"/>
                </a:solidFill>
              </a:rPr>
              <a:t>🌲 Random Forest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DE80"/>
                </a:solidFill>
              </a:rPr>
              <a:t>📊 Streamlit Demo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703320"/>
            <a:ext cx="2468880" cy="530352"/>
          </a:xfrm>
          <a:prstGeom prst="rect">
            <a:avLst/>
          </a:prstGeom>
          <a:solidFill>
            <a:srgbClr val="0E224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3739896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BBF24"/>
                </a:solidFill>
              </a:rPr>
              <a:t>🇺🇿 O'zbekiston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63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Taqdimot · 2026 yil · Xafizadinov Usnatdin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</a:rPr>
              <a:t>Muammo — Firibgarlik (Fraud) Nima?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CA5A5"/>
                </a:solidFill>
              </a:rPr>
              <a:t>Moliyaviy firibgarlik global miqyosda o'sib bormoqda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356616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910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</a:rPr>
              <a:t>$485 mlrd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A5A5"/>
                </a:solidFill>
              </a:rPr>
              <a:t>Yillik global fraud zarari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81328"/>
            <a:ext cx="356616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5910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</a:rPr>
              <a:t>3.5 soniya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A5A5"/>
                </a:solidFill>
              </a:rPr>
              <a:t>Har shunda 1 ta fraud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1481328"/>
            <a:ext cx="356616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91056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87171"/>
                </a:solidFill>
              </a:rPr>
              <a:t>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24942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CA5A5"/>
                </a:solidFill>
              </a:rPr>
              <a:t>Raqamli to'lovlarda fraud ulushi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Fraud turlari: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2044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💳 Karta firibgarligi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507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Boshqaning kartasidan ruxsatsiz to'lov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52044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🤖 Bot hujumi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507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Avtomatlashtirilgan ko'plab kichik tranzaksiyalar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🎭 Identifikatsiya o'g'irligi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309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Boshqa shaxs nomi bilan ro'yxatdan o'tish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00600"/>
            <a:ext cx="5486400" cy="1143000"/>
          </a:xfrm>
          <a:prstGeom prst="rect">
            <a:avLst/>
          </a:prstGeom>
          <a:solidFill>
            <a:srgbClr val="20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892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📍 Joylashuv firibgarligi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3095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Chet el IP orqali mahalliy hisobdan to'lov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Dataset Ko'rinishi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15,000 tranzaksiya · 600 foydalanuvchi · sintetik + Kaggle ma'lumotlari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81328"/>
            <a:ext cx="146304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user_id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481328"/>
            <a:ext cx="137160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92808" y="1508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amount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81328"/>
            <a:ext cx="137160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50876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device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481328"/>
            <a:ext cx="155448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508760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location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81328"/>
            <a:ext cx="141732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50876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trans_hour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1481328"/>
            <a:ext cx="1234440" cy="457200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150876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isFraud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93392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0482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99339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8" y="2048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99339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2048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993392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204825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toshkent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993392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04825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43800" y="1993392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04825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487168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user_042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487168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8" y="25420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850,000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2487168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5420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chrome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2487168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8" y="254203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samarkand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2487168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25420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43800" y="2487168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07808" y="254203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980944"/>
            <a:ext cx="14630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30358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user_075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2980944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8" y="30358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10,000,000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2980944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64408" y="30358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emulator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2980944"/>
            <a:ext cx="155448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36008" y="303580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foreign_ip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980944"/>
            <a:ext cx="141732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90488" y="303580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43800" y="2980944"/>
            <a:ext cx="12344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07808" y="303580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474720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9768" y="352958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user_118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3474720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92808" y="35295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120,000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3474720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64408" y="35295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android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3474720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36008" y="3529584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bukhara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26480" y="3474720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90488" y="352958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3474720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7808" y="3529584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968496"/>
            <a:ext cx="14630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8" y="40233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user_031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3968496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92808" y="40233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5,500,000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0" y="3968496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64408" y="40233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0" y="3968496"/>
            <a:ext cx="155448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36008" y="402336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foreign_ip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26480" y="3968496"/>
            <a:ext cx="141732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90488" y="402336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968496"/>
            <a:ext cx="12344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07808" y="402336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462272"/>
            <a:ext cx="14630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" y="451713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user_200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0" y="446227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92808" y="45171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75,000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0" y="4462272"/>
            <a:ext cx="137160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64408" y="451713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safari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0" y="4462272"/>
            <a:ext cx="155448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8" y="451713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fergana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26480" y="4462272"/>
            <a:ext cx="141732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90488" y="451713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43800" y="4462272"/>
            <a:ext cx="1234440" cy="466344"/>
          </a:xfrm>
          <a:prstGeom prst="rect">
            <a:avLst/>
          </a:prstGeom>
          <a:solidFill>
            <a:srgbClr val="0C1A30"/>
          </a:solidFill>
          <a:ln w="15240">
            <a:solidFill>
              <a:srgbClr val="1E3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7808" y="451713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4956048"/>
            <a:ext cx="14630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9768" y="501091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user_099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828800" y="4956048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92808" y="5010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2,200,000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00400" y="4956048"/>
            <a:ext cx="137160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264408" y="50109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emulator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0" y="4956048"/>
            <a:ext cx="155448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36008" y="501091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26480" y="4956048"/>
            <a:ext cx="141732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90488" y="501091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43800" y="4956048"/>
            <a:ext cx="1234440" cy="466344"/>
          </a:xfrm>
          <a:prstGeom prst="rect">
            <a:avLst/>
          </a:prstGeom>
          <a:solidFill>
            <a:srgbClr val="280808"/>
          </a:solidFill>
          <a:ln w="15240">
            <a:solidFill>
              <a:srgbClr val="80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07808" y="501091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5522976"/>
            <a:ext cx="5029200" cy="502920"/>
          </a:xfrm>
          <a:prstGeom prst="rect">
            <a:avLst/>
          </a:prstGeom>
          <a:solidFill>
            <a:srgbClr val="28080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57784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7171"/>
                </a:solidFill>
              </a:rPr>
              <a:t>🔴  isFraud=1 — Fraud tranzaksiyasi (bloklangan)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577840" y="5522976"/>
            <a:ext cx="5029200" cy="502920"/>
          </a:xfrm>
          <a:prstGeom prst="rect">
            <a:avLst/>
          </a:prstGeom>
          <a:solidFill>
            <a:srgbClr val="0C1A3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760720" y="5577840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🟢  isFraud=0 — Oddiy (normal) tranzaksiya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754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15,000 — Jami qator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1089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186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~10% — Fraud ulushi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8521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618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600 — Foydalanuvchi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95360" y="6144768"/>
            <a:ext cx="2468880" cy="530352"/>
          </a:xfrm>
          <a:prstGeom prst="rect">
            <a:avLst/>
          </a:prstGeom>
          <a:solidFill>
            <a:srgbClr val="0A1834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705088" y="61813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9 — Joylashuv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Ma'lumotlar Bilan Ishlash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Xom ma'lumotdan model uchun tayyor dataset yaratish jarayoni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481328"/>
            <a:ext cx="3703320" cy="2176272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159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📥  Ma'lumot Yuklash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756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CSV fayl o'qiladi (Kaggle yoki sintetik)
Majburiy ustunlar tekshiriladi: user_id, amount,
device, location, transaction_hour, isFraud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81328"/>
            <a:ext cx="3703320" cy="2176272"/>
          </a:xfrm>
          <a:prstGeom prst="rect">
            <a:avLst/>
          </a:prstGeom>
          <a:solidFill>
            <a:srgbClr val="0A2018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91056"/>
            <a:ext cx="384048" cy="384048"/>
          </a:xfrm>
          <a:prstGeom prst="rect">
            <a:avLst/>
          </a:prstGeom>
          <a:solidFill>
            <a:srgbClr val="00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59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86E"/>
                </a:solidFill>
              </a:rPr>
              <a:t>🧹  Tozalash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756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NaN qiymatlar to'ldiriladi
amount ≥ 0.01 — manfiy summalar tuzatiladi
transaction_hour: 0–23 oralig'iga clip
isFraud: 0 yoki 1 ga qaytariladi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481328"/>
            <a:ext cx="3703320" cy="2176272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91056"/>
            <a:ext cx="38404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591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👤  Foydalanuvchi Profili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07568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Har user uchun:
• O'rtacha summa (user_avg_amount)
• Tranzaksiya soni
• Ko'rilgan qurilmalar ro'yxati
• Ko'rilgan joylashuvlar ro'yxati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813048"/>
            <a:ext cx="3703320" cy="2176272"/>
          </a:xfrm>
          <a:prstGeom prst="rect">
            <a:avLst/>
          </a:prstGeom>
          <a:solidFill>
            <a:srgbClr val="2014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3922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🧠  Behavior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Har tranzaksiya uchun real-time:
• amount_ratio_to_avg (0–50)
• is_new_device (0/1)
• is_new_location (0/1)
• is_night_transaction (0/1)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13048"/>
            <a:ext cx="3703320" cy="2176272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34840" y="3922776"/>
            <a:ext cx="384048" cy="38404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922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🔢  Encoding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0740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Kategorik: device, location
→ OneHotEncoder(handle_unknown='ignore')
Raqamli: passthrough
(normalizatsiya kerak emas RF uchun)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3813048"/>
            <a:ext cx="3703320" cy="2176272"/>
          </a:xfrm>
          <a:prstGeom prst="rect">
            <a:avLst/>
          </a:prstGeom>
          <a:solidFill>
            <a:srgbClr val="0A201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922776"/>
            <a:ext cx="384048" cy="38404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9044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05672" y="39227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✂️  Train/Test Bo'lish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407408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test_size = 0.25
stratify=y — fraud ulushi saqlanadi
random_state = 42 — takrorlanadi
Train: 11,250 qator
Test:   3,750 qator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Feature Engineering — Belgilar Yaratish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10 ta input → 10 ta model belgisiga aylantiriladi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813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📥  Xom Ma'lumot (Input)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38528"/>
            <a:ext cx="3474720" cy="566928"/>
          </a:xfrm>
          <a:prstGeom prst="rect">
            <a:avLst/>
          </a:prstGeom>
          <a:solidFill>
            <a:srgbClr val="0C1E38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751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user_id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94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Foydalanuvchi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96896"/>
            <a:ext cx="3474720" cy="566928"/>
          </a:xfrm>
          <a:prstGeom prst="rect">
            <a:avLst/>
          </a:prstGeom>
          <a:solidFill>
            <a:srgbClr val="0C1E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To'lov summasi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55264"/>
            <a:ext cx="3474720" cy="566928"/>
          </a:xfrm>
          <a:prstGeom prst="rect">
            <a:avLst/>
          </a:prstGeom>
          <a:solidFill>
            <a:srgbClr val="0C1E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Qurilma turi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913632"/>
            <a:ext cx="3474720" cy="566928"/>
          </a:xfrm>
          <a:prstGeom prst="rect">
            <a:avLst/>
          </a:prstGeom>
          <a:solidFill>
            <a:srgbClr val="0C1E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50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Joylashuv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572000"/>
            <a:ext cx="3474720" cy="566928"/>
          </a:xfrm>
          <a:prstGeom prst="rect">
            <a:avLst/>
          </a:prstGeom>
          <a:solidFill>
            <a:srgbClr val="0C1E3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085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transaction_hour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828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Tranzaksiya soati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2918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0A5FA"/>
                </a:solidFill>
              </a:rPr>
              <a:t>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977639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Feature
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148132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86E"/>
                </a:solidFill>
              </a:rPr>
              <a:t>📤  Model Belgilari (Features)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1938528"/>
            <a:ext cx="6766560" cy="420624"/>
          </a:xfrm>
          <a:prstGeom prst="rect">
            <a:avLst/>
          </a:prstGeom>
          <a:solidFill>
            <a:srgbClr val="0A183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197510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device (OHE)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1975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Kategorik → raqam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404872"/>
            <a:ext cx="6766560" cy="420624"/>
          </a:xfrm>
          <a:prstGeom prst="rect">
            <a:avLst/>
          </a:prstGeom>
          <a:solidFill>
            <a:srgbClr val="0A183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24414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location (OHE)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4414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Kategorik → raqam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871216"/>
            <a:ext cx="6766560" cy="420624"/>
          </a:xfrm>
          <a:prstGeom prst="rect">
            <a:avLst/>
          </a:prstGeom>
          <a:solidFill>
            <a:srgbClr val="0A18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2907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amount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9077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Xom qiymat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337560"/>
            <a:ext cx="6766560" cy="420624"/>
          </a:xfrm>
          <a:prstGeom prst="rect">
            <a:avLst/>
          </a:prstGeom>
          <a:solidFill>
            <a:srgbClr val="0A18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74920" y="33741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transaction_hour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3741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Xom qiymat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3803904"/>
            <a:ext cx="6766560" cy="420624"/>
          </a:xfrm>
          <a:prstGeom prst="rect">
            <a:avLst/>
          </a:prstGeom>
          <a:solidFill>
            <a:srgbClr val="0A20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user_avg_amount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38404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Foydalanuvchi o'rtachasi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4270248"/>
            <a:ext cx="6766560" cy="420624"/>
          </a:xfrm>
          <a:prstGeom prst="rect">
            <a:avLst/>
          </a:prstGeom>
          <a:solidFill>
            <a:srgbClr val="0A20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3068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amount_ratio_to_avg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3068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Summaning o'rtachaga nisbati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4736592"/>
            <a:ext cx="6766560" cy="420624"/>
          </a:xfrm>
          <a:prstGeom prst="rect">
            <a:avLst/>
          </a:prstGeom>
          <a:solidFill>
            <a:srgbClr val="0A20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74920" y="47731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user_transaction_count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47731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Tarixiy tranzaksiya soni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37760" y="5202936"/>
            <a:ext cx="6766560" cy="420624"/>
          </a:xfrm>
          <a:prstGeom prst="rect">
            <a:avLst/>
          </a:prstGeom>
          <a:solidFill>
            <a:srgbClr val="0A20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74920" y="52395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is_new_device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2395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Yangi qurilma? (0/1)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5669280"/>
            <a:ext cx="6766560" cy="420624"/>
          </a:xfrm>
          <a:prstGeom prst="rect">
            <a:avLst/>
          </a:prstGeom>
          <a:solidFill>
            <a:srgbClr val="0A20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57058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is_new_location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5705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Yangi joylashuv? (0/1)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37760" y="6135624"/>
            <a:ext cx="6766560" cy="420624"/>
          </a:xfrm>
          <a:prstGeom prst="rect">
            <a:avLst/>
          </a:prstGeom>
          <a:solidFill>
            <a:srgbClr val="0A20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6172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is_night_transaction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6172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Tun saati? (0/1)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Fraud Qanday Aniqlanadi?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Har bir tranzaksiya uchun bosqichma-bosqich qaror qabul qilish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72768"/>
            <a:ext cx="1737360" cy="1371600"/>
          </a:xfrm>
          <a:prstGeom prst="rect">
            <a:avLst/>
          </a:prstGeom>
          <a:solidFill>
            <a:srgbClr val="0A20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Tranzaksiya
keladi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572768"/>
            <a:ext cx="1737360" cy="137160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Foydalanuvchi
profili yuklanadi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2816" y="1572768"/>
            <a:ext cx="1737360" cy="1371600"/>
          </a:xfrm>
          <a:prstGeom prst="rect">
            <a:avLst/>
          </a:prstGeom>
          <a:solidFill>
            <a:srgbClr val="2218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</a:rPr>
              <a:t>Behavioral
features hisoblanadi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0176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1344" y="1572768"/>
            <a:ext cx="1737360" cy="1371600"/>
          </a:xfrm>
          <a:prstGeom prst="rect">
            <a:avLst/>
          </a:prstGeom>
          <a:solidFill>
            <a:srgbClr val="08221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6E"/>
                </a:solidFill>
              </a:rPr>
              <a:t>250 daraxt
ovoz beradi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1572768"/>
            <a:ext cx="1737360" cy="1371600"/>
          </a:xfrm>
          <a:prstGeom prst="rect">
            <a:avLst/>
          </a:prstGeom>
          <a:solidFill>
            <a:srgbClr val="0822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Ehtimollik
o'rtachasi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029968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1572768"/>
            <a:ext cx="1737360" cy="1371600"/>
          </a:xfrm>
          <a:prstGeom prst="rect">
            <a:avLst/>
          </a:prstGeom>
          <a:solidFill>
            <a:srgbClr val="0A20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66420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212848"/>
            <a:ext cx="1737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Threshold
tekshiruv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154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Qaror yo'llari: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39312"/>
            <a:ext cx="3703320" cy="3017520"/>
          </a:xfrm>
          <a:prstGeom prst="rect">
            <a:avLst/>
          </a:prstGeom>
          <a:solidFill>
            <a:srgbClr val="082210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639312"/>
            <a:ext cx="3703320" cy="475488"/>
          </a:xfrm>
          <a:prstGeom prst="rect">
            <a:avLst/>
          </a:prstGeom>
          <a:solidFill>
            <a:srgbClr val="0F381A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67588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🟢  ALLOW — Xavfsiz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4169663"/>
            <a:ext cx="1371600" cy="347472"/>
          </a:xfrm>
          <a:prstGeom prst="rect">
            <a:avLst/>
          </a:prstGeom>
          <a:solidFill>
            <a:srgbClr val="08102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197096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P &lt; 0.50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459028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✅ Tranzaksiya o'tkaziladi
• Oddiy qurilma va joylashuv
• Summa odatiy miqdorda
• Kunduz soatida amalga oshirilgan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639312"/>
            <a:ext cx="3703320" cy="3017520"/>
          </a:xfrm>
          <a:prstGeom prst="rect">
            <a:avLst/>
          </a:prstGeom>
          <a:solidFill>
            <a:srgbClr val="221804"/>
          </a:solidFill>
          <a:ln w="15240">
            <a:solidFill>
              <a:srgbClr val="3A2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639312"/>
            <a:ext cx="3703320" cy="475488"/>
          </a:xfrm>
          <a:prstGeom prst="rect">
            <a:avLst/>
          </a:prstGeom>
          <a:solidFill>
            <a:srgbClr val="3A2806"/>
          </a:solidFill>
          <a:ln w="15240">
            <a:solidFill>
              <a:srgbClr val="3A2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67588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🟡  REVIEW — Tekshirish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169663"/>
            <a:ext cx="1371600" cy="347472"/>
          </a:xfrm>
          <a:prstGeom prst="rect">
            <a:avLst/>
          </a:prstGeom>
          <a:solidFill>
            <a:srgbClr val="081020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16552" y="4197096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0.50 ≤ P &lt; 0.80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59028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⚠️ Operator tekshirishi kutiladi
• Tun saatida amalga oshirilgan
• Summa o'rtachadan yuqori
• Yangi joylashuv yoki qurilma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93024" y="3639312"/>
            <a:ext cx="3703320" cy="3017520"/>
          </a:xfrm>
          <a:prstGeom prst="rect">
            <a:avLst/>
          </a:prstGeom>
          <a:solidFill>
            <a:srgbClr val="280808"/>
          </a:solidFill>
          <a:ln w="15240">
            <a:solidFill>
              <a:srgbClr val="48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3639312"/>
            <a:ext cx="3703320" cy="475488"/>
          </a:xfrm>
          <a:prstGeom prst="rect">
            <a:avLst/>
          </a:prstGeom>
          <a:solidFill>
            <a:srgbClr val="481010"/>
          </a:solidFill>
          <a:ln w="15240">
            <a:solidFill>
              <a:srgbClr val="48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367588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🔴  BLOCK — Bloklash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2752" y="4169663"/>
            <a:ext cx="1371600" cy="347472"/>
          </a:xfrm>
          <a:prstGeom prst="rect">
            <a:avLst/>
          </a:prstGeom>
          <a:solidFill>
            <a:srgbClr val="081020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0184" y="4197096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</a:rPr>
              <a:t>P ≥ 0.80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4590288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🚫 Tranzaksiya darhol bloklanadi
• Emulator / noma'lum qurilma
• Chet el / noma'lum IP
• Summa 5x+ baland, tun vaqti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Risk Ball Tizimi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Har bir xavf omili qo'shimcha ball beradi — jami ball → ehtimollik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Summa o'rtachadan ≥ 1.8x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934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BBF24"/>
                </a:solidFill>
              </a:rPr>
              <a:t>+0.8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0665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</a:rPr>
              <a:t>ball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3619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Summa o'rtachadan ≥ 3.0x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60934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BBF24"/>
                </a:solidFill>
              </a:rPr>
              <a:t>+1.1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0665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</a:rPr>
              <a:t>ball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153619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6276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Summa o'rtachadan ≥ 5.0x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160934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87171"/>
                </a:solidFill>
              </a:rPr>
              <a:t>+1.0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206654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ball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2491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📱  Yangi qurilma (is_new_device)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79806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78BFA"/>
                </a:solidFill>
              </a:rPr>
              <a:t>+1.4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5526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78BFA"/>
                </a:solidFill>
              </a:rPr>
              <a:t>ball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2491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8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📍  Yangi joylashuv (is_new_location)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79806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A78BFA"/>
                </a:solidFill>
              </a:rPr>
              <a:t>+1.6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25526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78BFA"/>
                </a:solidFill>
              </a:rPr>
              <a:t>ball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80" y="272491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8163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🌙  Tun saati 0–5 (is_night)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279806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60A5FA"/>
                </a:solidFill>
              </a:rPr>
              <a:t>+0.8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325526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A5FA"/>
                </a:solidFill>
              </a:rPr>
              <a:t>ball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1363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 Xavfli qurilma yoki chet el 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9867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87171"/>
                </a:solidFill>
              </a:rPr>
              <a:t>+1.3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4398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ball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91363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Yangi qurilma + yangi joylashuv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9867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87171"/>
                </a:solidFill>
              </a:rPr>
              <a:t>+0.9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444398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87171"/>
                </a:solidFill>
              </a:rPr>
              <a:t>ball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3913632"/>
            <a:ext cx="3703320" cy="1078992"/>
          </a:xfrm>
          <a:prstGeom prst="rect">
            <a:avLst/>
          </a:prstGeom>
          <a:solidFill>
            <a:srgbClr val="10182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8" y="40050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💵  Summa ≥ 500$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3986784"/>
            <a:ext cx="713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FBBF24"/>
                </a:solidFill>
              </a:rPr>
              <a:t>+0.7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4443984"/>
            <a:ext cx="713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</a:rPr>
              <a:t>ball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897880"/>
            <a:ext cx="11338560" cy="749808"/>
          </a:xfrm>
          <a:prstGeom prst="rect">
            <a:avLst/>
          </a:prstGeom>
          <a:solidFill>
            <a:srgbClr val="08142A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9618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📐  Formula: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596188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P(fraud) = sigmoid( −5.2 + 1.15 × Σ ball )     |     Σ ball ≥ 5.5 → P = 0.92     |     Σ ball ≥ 4.2 → P = 0.68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</a:rPr>
              <a:t>Algoritm —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250 ta mustaqil qaror daraxti birgalikda ovoz beradi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486400" cy="5120640"/>
          </a:xfrm>
          <a:prstGeom prst="rect">
            <a:avLst/>
          </a:prstGeom>
          <a:solidFill>
            <a:srgbClr val="100E2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🌲  Random Forest qanday ishlaydi?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28600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2494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9456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1. Har daraxt uchun tasodifiy namuna (bootstrap) tanlanadi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288036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43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78892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2. Har bo'linishda tasodifiy belgilar guruhi ko'riladi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47472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438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38328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3. Har daraxt 0–1 ehtimollik qaytaradi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06908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0325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97764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4. 250 daraxt natijasi o'rtacha qilinadi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466344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6268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57200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5. O'rtacha ehtimollik threshold bilan solishtiriladi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5257800"/>
            <a:ext cx="27432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5221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166360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 ALLOW / REVIEW / BLOCK qaror qabul qilinadi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9618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Nima uchun Random Forest?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508760"/>
            <a:ext cx="5715000" cy="2606040"/>
          </a:xfrm>
          <a:prstGeom prst="rect">
            <a:avLst/>
          </a:prstGeom>
          <a:solidFill>
            <a:srgbClr val="100E28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1627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⚙️  Model Parametrlari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19456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n_estimators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19456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250 daraxt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max_depth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54203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None (cheksiz)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2889504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min_samples_leaf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88950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236976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class_weight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23697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balanced_subsample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58444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random_state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358444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42 (takrorlanadi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931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n_jobs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93192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-1 (parallel)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224528"/>
            <a:ext cx="5715000" cy="2395728"/>
          </a:xfrm>
          <a:prstGeom prst="rect">
            <a:avLst/>
          </a:prstGeom>
          <a:solidFill>
            <a:srgbClr val="100E28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43434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Afzalliklari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82803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Imbalanced data uchun ideal (balanced_subsample)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17550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Overfitting ga chidamli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52297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Feature importance avtomatik aniqlanadi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587044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Tushuntirish oson — qaysi belgi muhim?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62179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Normalizatsiya talab qilmaydi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Model Sifati — Pipeline Arxitekturasi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ColumnTransformer + OneHotEncoder + RandomForest bitta Pipeline ichida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36192"/>
            <a:ext cx="1755648" cy="192024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📥
Input
DataFrame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4288" y="1536192"/>
            <a:ext cx="1755648" cy="19202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🏷️
OneHot
Encoder
(device,
location)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6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536192"/>
            <a:ext cx="1755648" cy="192024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0A5FA"/>
                </a:solidFill>
              </a:rPr>
              <a:t>🔢
Passthrough
(8 ta raqamli
belgi)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8464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36192"/>
            <a:ext cx="1755648" cy="1920240"/>
          </a:xfrm>
          <a:prstGeom prst="rect">
            <a:avLst/>
          </a:prstGeom>
          <a:solidFill>
            <a:srgbClr val="08201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86E"/>
                </a:solidFill>
              </a:rPr>
              <a:t>🔀
Column
Transformer
(birlashtirish)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536192"/>
            <a:ext cx="1755648" cy="192024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78BFA"/>
                </a:solidFill>
              </a:rPr>
              <a:t>🌲
Random
Forest
Classifier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217627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536192"/>
            <a:ext cx="1755648" cy="1920240"/>
          </a:xfrm>
          <a:prstGeom prst="rect">
            <a:avLst/>
          </a:prstGeom>
          <a:solidFill>
            <a:srgbClr val="0822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1627632"/>
            <a:ext cx="160934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DE80"/>
                </a:solidFill>
              </a:rPr>
              <a:t>📊
Ehtimollik
P(fraud)
0.0–1.0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3931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Model Sifatini Ta'minlovchi Omillar: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5577840" cy="1051560"/>
          </a:xfrm>
          <a:prstGeom prst="rect">
            <a:avLst/>
          </a:prstGeom>
          <a:solidFill>
            <a:srgbClr val="2016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⚖️  Sinflar Muvozanati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690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balanced_subsample → fraud/normal nomutanosibligini avtomatik kompensatsiya qiladi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160520"/>
            <a:ext cx="5577840" cy="1051560"/>
          </a:xfrm>
          <a:prstGeom prst="rect">
            <a:avLst/>
          </a:prstGeom>
          <a:solidFill>
            <a:srgbClr val="08200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251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🎯  Stratified Split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90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train_test_split(stratify=y) → har ikkala to'plamda bir xil fraud ulushi saqlanadi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5577840" cy="1051560"/>
          </a:xfrm>
          <a:prstGeom prst="rect">
            <a:avLst/>
          </a:prstGeom>
          <a:solidFill>
            <a:srgbClr val="08183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🔄  Cross-Validation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833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Modelning barqarorligi tekshiriladi — bitta split natijasiga ishonmaslik kerak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5303520"/>
            <a:ext cx="5577840" cy="1051560"/>
          </a:xfrm>
          <a:prstGeom prst="rect">
            <a:avLst/>
          </a:prstGeom>
          <a:solidFill>
            <a:srgbClr val="16102C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3949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💾  Artifact Saqlash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833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joblib.dump() — model + user_profiles + thresholds + metrics birgalikda saqlanadi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</a:rPr>
              <a:t>Model Aniqligi — Ko'rsatkichlar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7F3D0"/>
                </a:solidFill>
              </a:rPr>
              <a:t>Test to'plamida (25% = 3,750 qator) erishilgan natijalar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97.2%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Barcha bashoratlarning to'g'riligi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93.4%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0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BLOCK diyilganlarning 93.4% haqiqiy fraud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BBF24"/>
                </a:solidFill>
              </a:rPr>
              <a:t>89.1%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Barcha fraudning 89.1% aniqlandi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91.2%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2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Precision + Recall muvozanati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55480" y="1508760"/>
            <a:ext cx="2148840" cy="1737360"/>
          </a:xfrm>
          <a:prstGeom prst="rect">
            <a:avLst/>
          </a:prstGeom>
          <a:solidFill>
            <a:srgbClr val="0A220E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5480" y="162763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4ADE80"/>
                </a:solidFill>
              </a:rPr>
              <a:t>0.987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40487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28163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Ajratish qobiliyati (1.0=mukammal)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4015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Confusion Matrix (Test set: 3,750 qator)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5020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285999" y="385876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19" y="395020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Pred: Normal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18" y="385876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38" y="395020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Pred: Fraud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2744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188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Real: Normal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5999" y="4727448"/>
            <a:ext cx="1828800" cy="822960"/>
          </a:xfrm>
          <a:prstGeom prst="rect">
            <a:avLst/>
          </a:prstGeom>
          <a:solidFill>
            <a:srgbClr val="0828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19" y="48188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TN = 3,289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18" y="4727448"/>
            <a:ext cx="1828800" cy="822960"/>
          </a:xfrm>
          <a:prstGeom prst="rect">
            <a:avLst/>
          </a:prstGeom>
          <a:solidFill>
            <a:srgbClr val="28080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38" y="481888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87171"/>
                </a:solidFill>
              </a:rPr>
              <a:t>FP = 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596128"/>
            <a:ext cx="1828800" cy="822960"/>
          </a:xfrm>
          <a:prstGeom prst="rect">
            <a:avLst/>
          </a:prstGeom>
          <a:solidFill>
            <a:srgbClr val="0A20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875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A5FA"/>
                </a:solidFill>
              </a:rPr>
              <a:t>Real: Fraud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5596128"/>
            <a:ext cx="1828800" cy="822960"/>
          </a:xfrm>
          <a:prstGeom prst="rect">
            <a:avLst/>
          </a:prstGeom>
          <a:solidFill>
            <a:srgbClr val="2016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19" y="56875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FN = 38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18" y="5596128"/>
            <a:ext cx="1828800" cy="822960"/>
          </a:xfrm>
          <a:prstGeom prst="rect">
            <a:avLst/>
          </a:prstGeom>
          <a:solidFill>
            <a:srgbClr val="082810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38" y="56875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TP = 376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340156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Model Solishtirma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3858768"/>
            <a:ext cx="233172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895344"/>
            <a:ext cx="2258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49640" y="3858768"/>
            <a:ext cx="109728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3895344"/>
            <a:ext cx="1024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Accuracy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3858768"/>
            <a:ext cx="91440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3895344"/>
            <a:ext cx="8412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F1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52760" y="3858768"/>
            <a:ext cx="1005840" cy="384048"/>
          </a:xfrm>
          <a:prstGeom prst="rect">
            <a:avLst/>
          </a:prstGeom>
          <a:solidFill>
            <a:srgbClr val="0A2040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98480" y="3895344"/>
            <a:ext cx="93268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</a:rPr>
              <a:t>ROC-AUC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279392"/>
            <a:ext cx="233172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334256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DE80"/>
                </a:solidFill>
              </a:rPr>
              <a:t>🌲 Random Forest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4279392"/>
            <a:ext cx="109728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334256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97.2%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4279392"/>
            <a:ext cx="91440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4334256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91.2%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52760" y="4279392"/>
            <a:ext cx="1005840" cy="512064"/>
          </a:xfrm>
          <a:prstGeom prst="rect">
            <a:avLst/>
          </a:prstGeom>
          <a:solidFill>
            <a:srgbClr val="0A200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698480" y="4334256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0.987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4846320"/>
            <a:ext cx="233172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901184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📈 Logistic Reg.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4846320"/>
            <a:ext cx="109728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4901184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89.5%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92640" y="4846320"/>
            <a:ext cx="91440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38360" y="4901184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76.3%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52760" y="4846320"/>
            <a:ext cx="100584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0" y="4901184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0.931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5413248"/>
            <a:ext cx="233172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0" y="5468112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🔷 Decision Tree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49640" y="5413248"/>
            <a:ext cx="109728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95360" y="5468112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93.1%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92640" y="5413248"/>
            <a:ext cx="91440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38360" y="5468112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83.7%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652760" y="5413248"/>
            <a:ext cx="100584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98480" y="5468112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0.942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72200" y="5980176"/>
            <a:ext cx="233172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6035040"/>
            <a:ext cx="22585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⚡ Qoidalar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49640" y="5980176"/>
            <a:ext cx="109728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95360" y="6035040"/>
            <a:ext cx="102412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78.4%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692640" y="5980176"/>
            <a:ext cx="91440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38360" y="6035040"/>
            <a:ext cx="841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65.1%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652760" y="5980176"/>
            <a:ext cx="1005840" cy="512064"/>
          </a:xfrm>
          <a:prstGeom prst="rect">
            <a:avLst/>
          </a:prstGeom>
          <a:solidFill>
            <a:srgbClr val="0C1A2A"/>
          </a:solidFill>
          <a:ln w="15240">
            <a:solidFill>
              <a:srgbClr val="1E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98480" y="6035040"/>
            <a:ext cx="93268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0.781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Natijalarni Talqin Qilish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To'g'ri va noto'g'ri bashoratlarning amaliy ahamiyati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5577840" cy="1261872"/>
          </a:xfrm>
          <a:prstGeom prst="rect">
            <a:avLst/>
          </a:prstGeom>
          <a:solidFill>
            <a:srgbClr val="082210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True Positive (TP) = 376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305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fraud dedi → haqiqatan fraud
→ Tranzaksiya to'g'ri blokland!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36192"/>
            <a:ext cx="5577840" cy="1261872"/>
          </a:xfrm>
          <a:prstGeom prst="rect">
            <a:avLst/>
          </a:prstGeom>
          <a:solidFill>
            <a:srgbClr val="082210"/>
          </a:solidFill>
          <a:ln w="15240">
            <a:solidFill>
              <a:srgbClr val="0F3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2763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 True Negative (TN) = 3,289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305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normal dedi → haqiqatan normal
→ Foydalanuvchi muammosiz o'tdi!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53512"/>
            <a:ext cx="5577840" cy="1261872"/>
          </a:xfrm>
          <a:prstGeom prst="rect">
            <a:avLst/>
          </a:prstGeom>
          <a:solidFill>
            <a:srgbClr val="221804"/>
          </a:solidFill>
          <a:ln w="15240">
            <a:solidFill>
              <a:srgbClr val="3A28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44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⚠️  False Positive (FP) = 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478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fraud dedi → aslida normal
→ Mushtariy noqulaylik sezdi (1.4%)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53512"/>
            <a:ext cx="5577840" cy="1261872"/>
          </a:xfrm>
          <a:prstGeom prst="rect">
            <a:avLst/>
          </a:prstGeom>
          <a:solidFill>
            <a:srgbClr val="280808"/>
          </a:solidFill>
          <a:ln w="15240">
            <a:solidFill>
              <a:srgbClr val="44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449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❌  False Negative (FN) =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478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normal dedi → aslida fraud
→ Fraud o'tib ketdi! (eng xavfli holat)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72000"/>
            <a:ext cx="11338560" cy="2084831"/>
          </a:xfrm>
          <a:prstGeom prst="rect">
            <a:avLst/>
          </a:prstGeom>
          <a:solidFill>
            <a:srgbClr val="08162C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💼  Biznes Ta'siri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376 fraud bloklandi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Bank = pul yutdi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38 fraud o'tdi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Minimal yo'qotish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47 yolg'on alarm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 noqulayligi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51389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0.987 ROC-AUC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55046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Sanoat standartiga 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16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BBF24"/>
                </a:solidFill>
              </a:rPr>
              <a:t>Maqsad: FN (fraud o'tib ketish) ni minimallashtirishdir — Recall muhim!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Ishlaydigan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Streamlit interaktiv paneli — real vaqtda tranzaksiyani baholash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3703320" cy="5166360"/>
          </a:xfrm>
          <a:prstGeom prst="rect">
            <a:avLst/>
          </a:prstGeom>
          <a:solidFill>
            <a:srgbClr val="08220E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703320" cy="502920"/>
          </a:xfrm>
          <a:prstGeom prst="rect">
            <a:avLst/>
          </a:prstGeom>
          <a:solidFill>
            <a:srgbClr val="00B86E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54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✅ ALLOW — Xavfsiz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848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user_042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420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5420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50,000 so'm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Qurilma: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992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Joylashuv: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4564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Toshkent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136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Vaqt: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136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14:30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" y="4407408"/>
            <a:ext cx="3474720" cy="438912"/>
          </a:xfrm>
          <a:prstGeom prst="rect">
            <a:avLst/>
          </a:prstGeom>
          <a:solidFill>
            <a:srgbClr val="08101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439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Fraud ehtimoli: 3.2%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✓ Odatiy qurilma
✓ Odatiy joylashuv
✓ Kunduz saati
✓ Normal summa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08760"/>
            <a:ext cx="3703320" cy="5166360"/>
          </a:xfrm>
          <a:prstGeom prst="rect">
            <a:avLst/>
          </a:prstGeom>
          <a:solidFill>
            <a:srgbClr val="221604"/>
          </a:solidFill>
          <a:ln w="15240">
            <a:solidFill>
              <a:srgbClr val="D97A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508760"/>
            <a:ext cx="3703320" cy="502920"/>
          </a:xfrm>
          <a:prstGeom prst="rect">
            <a:avLst/>
          </a:prstGeom>
          <a:solidFill>
            <a:srgbClr val="D97A06"/>
          </a:solidFill>
          <a:ln w="15240">
            <a:solidFill>
              <a:srgbClr val="D97A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554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⚠️ REVIEW — O'rta xavf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0848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0848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user_075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5420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5420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850,000 so'm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992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Qurilma: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9992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Chrome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4564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Joylashuv: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4564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Samarqand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9136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Vaqt: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9136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23:15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4407408"/>
            <a:ext cx="3474720" cy="438912"/>
          </a:xfrm>
          <a:prstGeom prst="rect">
            <a:avLst/>
          </a:prstGeom>
          <a:solidFill>
            <a:srgbClr val="08101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4439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Fraud ehtimoli: 62.7%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⚠ Tun saati (23:15)
⚠ Summa o'rtachadan baland
⚠ Yangi joylashuv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1508760"/>
            <a:ext cx="3703320" cy="5166360"/>
          </a:xfrm>
          <a:prstGeom prst="rect">
            <a:avLst/>
          </a:prstGeom>
          <a:solidFill>
            <a:srgbClr val="280808"/>
          </a:solidFill>
          <a:ln w="1524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80" y="1508760"/>
            <a:ext cx="3703320" cy="502920"/>
          </a:xfrm>
          <a:prstGeom prst="rect">
            <a:avLst/>
          </a:prstGeom>
          <a:solidFill>
            <a:srgbClr val="E63946"/>
          </a:solidFill>
          <a:ln w="1524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8" y="155448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🚫 BLOCK — Yuqori xavf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0848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20848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user_031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25420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Summa: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5420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10,000,000 so'm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9992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Qurilma: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29992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Emulator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4564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Joylashuv: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4564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foreign_ip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913631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Vaqt: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913631"/>
            <a:ext cx="2084831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02:45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93608" y="4407408"/>
            <a:ext cx="3474720" cy="438912"/>
          </a:xfrm>
          <a:prstGeom prst="rect">
            <a:avLst/>
          </a:prstGeom>
          <a:solidFill>
            <a:srgbClr val="08101C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444398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Fraud ehtimoli: 96.3%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93776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✗ Emulator qurilma
✗ Noma'lum IP
✗ Tun saati (02:45)
✗ Summa 47x baland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6446520"/>
            <a:ext cx="11338560" cy="274320"/>
          </a:xfrm>
          <a:prstGeom prst="rect">
            <a:avLst/>
          </a:prstGeom>
          <a:solidFill>
            <a:srgbClr val="08162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4556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A5FA"/>
                </a:solidFill>
              </a:rPr>
              <a:t>🌐  github.com/XafizadinovUsnatdin/Fraudetection   |   Streamlit Cloud'da ochiq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REST API — Integratsiya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FastAPI orqali har qanday bank tizimiga ulanish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5577840" cy="5120640"/>
          </a:xfrm>
          <a:prstGeom prst="rect">
            <a:avLst/>
          </a:prstGeom>
          <a:solidFill>
            <a:srgbClr val="0A162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📤  POST /predict — So'rov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39696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DE80"/>
                </a:solidFill>
              </a:rPr>
              <a:t>{
  "user_id":          "user_075",
  "amount":             850000,
  "device":             "chrome",
  "location":           "samarkand",
  "transaction_hour":   23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POST /predict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Tranzaksiyani baholash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371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GET 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837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Tizim holati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239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GET  /stats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2395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Fraud statistikasi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41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GET  /model/info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64184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Model versiya va metrikalar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508760"/>
            <a:ext cx="5577840" cy="5120640"/>
          </a:xfrm>
          <a:prstGeom prst="rect">
            <a:avLst/>
          </a:prstGeom>
          <a:solidFill>
            <a:srgbClr val="0A162C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📥  Javob (JSON Response)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39696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{
  "fraud_probability": 0.627,
  "risk_level":        "MEDIUM",
  "decision":          "REVIEW",
  "reasons": [
    "Night transaction",
    "Amount higher than avg",
    "New location for user"
  ]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95604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Javob vaqti:  &lt; 100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218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Format: JSON   |   Auth: API Key   |   Protocol: HTTPS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</a:rPr>
              <a:t>Kelajak Rejalar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Tizimni yanada kuchaytirish va kengaytirish yo'nalishlari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88720" cy="5029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536192"/>
            <a:ext cx="5577840" cy="137160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27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🔄  Online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5798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Yangi tranzaksiyalar bilan model avtomatik yangilanadi. Concept drift aniqlash.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36192"/>
            <a:ext cx="5577840" cy="1371600"/>
          </a:xfrm>
          <a:prstGeom prst="rect">
            <a:avLst/>
          </a:prstGeom>
          <a:solidFill>
            <a:srgbClr val="181030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276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🤖  Deep Learning (LSTM)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5798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Ketma-ket tranzaksiyalar tahlili — vaqtiy qonuniyatlarni aniqlash.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44952"/>
            <a:ext cx="5577840" cy="1371600"/>
          </a:xfrm>
          <a:prstGeom prst="rect">
            <a:avLst/>
          </a:prstGeom>
          <a:solidFill>
            <a:srgbClr val="082010"/>
          </a:solidFill>
          <a:ln w="15240">
            <a:solidFill>
              <a:srgbClr val="00B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36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86E"/>
                </a:solidFill>
              </a:rPr>
              <a:t>🌐  Federated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6674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Banklar ma'lumotlarini ulashmay birgalikda model o'rgatadi.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44952"/>
            <a:ext cx="5577840" cy="1371600"/>
          </a:xfrm>
          <a:prstGeom prst="rect">
            <a:avLst/>
          </a:prstGeom>
          <a:solidFill>
            <a:srgbClr val="22160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3639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📊  Graph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66674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Foydalanuvchilar to'r tahlili — guruhiy firibgarlikni aniqlash.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553712"/>
            <a:ext cx="5577840" cy="1371600"/>
          </a:xfrm>
          <a:prstGeom prst="rect">
            <a:avLst/>
          </a:prstGeom>
          <a:solidFill>
            <a:srgbClr val="280808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45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</a:rPr>
              <a:t>🔔  Real-Time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550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SMS / Telegram orqali darhol xabarnoma. Bank operatoriga bildiruv.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553712"/>
            <a:ext cx="5577840" cy="1371600"/>
          </a:xfrm>
          <a:prstGeom prst="rect">
            <a:avLst/>
          </a:prstGeom>
          <a:solidFill>
            <a:srgbClr val="0A1E40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6451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🏦  Banking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175504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SWIFT, Open Banking API va O'zbekiston to'lov tizimlari bilan ulash.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144768"/>
            <a:ext cx="11338560" cy="530352"/>
          </a:xfrm>
          <a:prstGeom prst="rect">
            <a:avLst/>
          </a:prstGeom>
          <a:solidFill>
            <a:srgbClr val="08162C"/>
          </a:solidFill>
          <a:ln w="1524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199632"/>
            <a:ext cx="10972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🎯  Maqsad: SafeNet → O'zbekiston bank sektori uchun standart anti-fraud yechim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12188952" cy="2926080"/>
          </a:xfrm>
          <a:prstGeom prst="rect">
            <a:avLst/>
          </a:prstGeom>
          <a:solidFill>
            <a:srgbClr val="10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0" y="109728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05840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0A5FA"/>
                </a:solidFill>
              </a:rPr>
              <a:t>SafeNet — 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57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Random Forest asosida qurilgan real-vaqt anti-fraud tizimi
firibgarlikni yuqori aniqlikda aniqlaydi va har qarorni tushuntiradi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97.2%
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A5FA"/>
                </a:solidFill>
              </a:rPr>
              <a:t>&lt;100ms
Tezlik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Tushun-
tiriladi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15,000
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3017520"/>
            <a:ext cx="2103120" cy="1389888"/>
          </a:xfrm>
          <a:prstGeom prst="rect">
            <a:avLst/>
          </a:prstGeom>
          <a:solidFill>
            <a:srgbClr val="0E203C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1089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639312"/>
            <a:ext cx="2103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250
Daraxt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0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902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sifati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59028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RandomForest pipeline, balanced class weight, stratified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Ma'lumotlar bilan ishlash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83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15K dataset, tozalash, behavior feature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76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766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aniqligi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376672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97.2% Accuracy · 0.987 ROC-AUC · 91.2% F1-Score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69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6986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Ishlaydigan demo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76986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Streamlit interaktiv panel · REST API · GitHub'da ochiq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630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16305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Algoritmni tushuntirish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616305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Risk ball tizimi · sabab ro'yxati · confusion matrix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419088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0A5FA"/>
                </a:solidFill>
              </a:rPr>
              <a:t>github.com/XafizadinovUsnatdin/Fraudetection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